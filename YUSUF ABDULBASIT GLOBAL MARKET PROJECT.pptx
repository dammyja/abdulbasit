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0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</c:v>
                </c:pt>
              </c:strCache>
            </c:strRef>
          </c:tx>
          <c:spPr>
            <a:solidFill>
              <a:srgbClr val="12403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25FB-46C6-A9F8-E6AC198DA4CA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FB-46C6-A9F8-E6AC198DA4C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25FB-46C6-A9F8-E6AC198DA4CA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FB-46C6-A9F8-E6AC198DA4CA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5FB-46C6-A9F8-E6AC198DA4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4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Afroparts Ltd</c:v>
                </c:pt>
                <c:pt idx="1">
                  <c:v>Globaltrade Intl</c:v>
                </c:pt>
                <c:pt idx="2">
                  <c:v>Megasupply Co</c:v>
                </c:pt>
                <c:pt idx="3">
                  <c:v>Nilesupply East</c:v>
                </c:pt>
                <c:pt idx="4">
                  <c:v>Sunsource Ltd</c:v>
                </c:pt>
                <c:pt idx="5">
                  <c:v>Eastconnect Log.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87</c:v>
                </c:pt>
                <c:pt idx="2">
                  <c:v>89</c:v>
                </c:pt>
                <c:pt idx="3">
                  <c:v>90</c:v>
                </c:pt>
                <c:pt idx="4">
                  <c:v>86</c:v>
                </c:pt>
                <c:pt idx="5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FB-46C6-A9F8-E6AC198DA4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4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On-Time Deliveries</c:v>
                </c:pt>
              </c:strCache>
            </c:strRef>
          </c:tx>
          <c:spPr>
            <a:ln w="31750" cap="flat">
              <a:solidFill>
                <a:srgbClr val="12403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2403B"/>
              </a:solidFill>
              <a:ln w="9525" cap="flat">
                <a:solidFill>
                  <a:srgbClr val="12403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1.83</c:v>
                </c:pt>
                <c:pt idx="2">
                  <c:v>1.67</c:v>
                </c:pt>
                <c:pt idx="3">
                  <c:v>1.5</c:v>
                </c:pt>
                <c:pt idx="4">
                  <c:v>1.33</c:v>
                </c:pt>
                <c:pt idx="5">
                  <c:v>1.17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14-4506-A5D7-5B7E47F3E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40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6383-4F96-92FE-14E8F692F5AE}"/>
              </c:ext>
            </c:extLst>
          </c:dPt>
          <c:dPt>
            <c:idx val="1"/>
            <c:invertIfNegative val="0"/>
            <c:bubble3D val="0"/>
            <c:spPr>
              <a:solidFill>
                <a:srgbClr val="1240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83-4F96-92FE-14E8F692F5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4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Overnight</c:v>
                </c:pt>
                <c:pt idx="2">
                  <c:v>Standard</c:v>
                </c:pt>
                <c:pt idx="3">
                  <c:v>Express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9.1999999999999993</c:v>
                </c:pt>
                <c:pt idx="1">
                  <c:v>8</c:v>
                </c:pt>
                <c:pt idx="2">
                  <c:v>6.3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83-4F96-92FE-14E8F692F5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8383603688883149E-2"/>
          <c:y val="4.3209876543209874E-2"/>
          <c:w val="0.91974025787760139"/>
          <c:h val="0.804169582968795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Level</c:v>
                </c:pt>
              </c:strCache>
            </c:strRef>
          </c:tx>
          <c:spPr>
            <a:solidFill>
              <a:srgbClr val="1240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4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Clothing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62-490F-8A39-23DD032D6B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Quantity Ordered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4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Clothing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62-490F-8A39-23DD032D6B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ln w="31750" cap="flat">
              <a:solidFill>
                <a:srgbClr val="12403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2403B"/>
              </a:solidFill>
              <a:ln w="9525" cap="flat">
                <a:solidFill>
                  <a:srgbClr val="12403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1.6</c:v>
                </c:pt>
                <c:pt idx="1">
                  <c:v>1.9</c:v>
                </c:pt>
                <c:pt idx="2">
                  <c:v>2</c:v>
                </c:pt>
                <c:pt idx="3">
                  <c:v>1.5</c:v>
                </c:pt>
                <c:pt idx="4">
                  <c:v>0.9</c:v>
                </c:pt>
                <c:pt idx="5">
                  <c:v>1.3</c:v>
                </c:pt>
                <c:pt idx="6">
                  <c:v>1.6</c:v>
                </c:pt>
                <c:pt idx="7">
                  <c:v>2.6</c:v>
                </c:pt>
                <c:pt idx="8">
                  <c:v>1.8</c:v>
                </c:pt>
                <c:pt idx="9">
                  <c:v>1.3</c:v>
                </c:pt>
                <c:pt idx="10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99-4413-B177-9D7092A2D5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68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C6B68"/>
                    </a:solidFill>
                    <a:latin typeface="Arial"/>
                  </a:rPr>
                  <a:t>Order 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2403B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224E-44BF-BF41-ABAF88B641BE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4E-44BF-BF41-ABAF88B641BE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24E-44BF-BF41-ABAF88B641BE}"/>
              </c:ext>
            </c:extLst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4E-44BF-BF41-ABAF88B641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A24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Sprayer 16L</c:v>
                </c:pt>
                <c:pt idx="1">
                  <c:v>Irrigation Pipe 50m</c:v>
                </c:pt>
                <c:pt idx="2">
                  <c:v>Vegetable Seedlings</c:v>
                </c:pt>
                <c:pt idx="3">
                  <c:v>NPK Fertilizer 50kg</c:v>
                </c:pt>
                <c:pt idx="4">
                  <c:v>Drip Tape 100m</c:v>
                </c:pt>
                <c:pt idx="5">
                  <c:v>Herbicide 5L</c:v>
                </c:pt>
                <c:pt idx="6">
                  <c:v>Pesticide Concentrate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4.8</c:v>
                </c:pt>
                <c:pt idx="1">
                  <c:v>3.9</c:v>
                </c:pt>
                <c:pt idx="2">
                  <c:v>3.6</c:v>
                </c:pt>
                <c:pt idx="3">
                  <c:v>3.3</c:v>
                </c:pt>
                <c:pt idx="4">
                  <c:v>2.6</c:v>
                </c:pt>
                <c:pt idx="5">
                  <c:v>1.9</c:v>
                </c:pt>
                <c:pt idx="6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4E-44BF-BF41-ABAF88B641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4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83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2403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CFE8E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846320"/>
            <a:ext cx="2194560" cy="2194560"/>
          </a:xfrm>
          <a:prstGeom prst="ellipse">
            <a:avLst/>
          </a:prstGeom>
          <a:solidFill>
            <a:srgbClr val="CFE8E2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CFE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GLOBALMART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Business Performance Analytics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— Insights &amp; Strategic Recommendations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237744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Yusuf Abdulbasit Damola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Data Analyst  |  Power BI Analytics Project</a:t>
            </a:r>
            <a:endParaRPr lang="en-US" sz="1200" dirty="0"/>
          </a:p>
        </p:txBody>
      </p:sp>
      <p:pic>
        <p:nvPicPr>
          <p:cNvPr id="12" name="Picture 11" descr="iotbtech_logo_tight.png">
            <a:extLst>
              <a:ext uri="{FF2B5EF4-FFF2-40B4-BE49-F238E27FC236}">
                <a16:creationId xmlns:a16="http://schemas.microsoft.com/office/drawing/2014/main" id="{491AF10A-B494-8542-362C-582008D25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89" y="382905"/>
            <a:ext cx="1888281" cy="531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GlobalMart's growth in sales and demand has exposed four critical operational challenges.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03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Delivery Performance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customer complaints from delayed shipments; inconsistent supplier and shipping-mode reliability.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2103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Imbalance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overstocking and shortages across categories, raising holding costs and lost sales.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57800" cy="2103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Stagnating Profit Margins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keeps growing but margins remain flat, pointing to cost inefficiencies and pricing gaps.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257800" cy="2103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434840"/>
            <a:ext cx="502920" cy="502920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3891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Visibility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fragmented reporting makes real-time decision-making difficult for leadership.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Power BI → Insights: a three-stage analytics pipeline.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20440" cy="502920"/>
          </a:xfrm>
          <a:prstGeom prst="rect">
            <a:avLst/>
          </a:prstGeom>
          <a:solidFill>
            <a:srgbClr val="1240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34540" y="2606040"/>
            <a:ext cx="731520" cy="731520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8" name="Text 6"/>
          <p:cNvSpPr/>
          <p:nvPr/>
        </p:nvSpPr>
        <p:spPr>
          <a:xfrm>
            <a:off x="203454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handled missing values, standardized supplier/region/category names, corrected formats, and built core KPIs in Power Query.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78808" y="3383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5204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828800"/>
            <a:ext cx="3520440" cy="502920"/>
          </a:xfrm>
          <a:prstGeom prst="rect">
            <a:avLst/>
          </a:prstGeom>
          <a:solidFill>
            <a:srgbClr val="12403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828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5020" y="2606040"/>
            <a:ext cx="731520" cy="7315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587502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3566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42976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two Power BI dashboards — Supply Chain Operations and Business Performance — for real-time monitoring.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19288" y="3383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321040" y="1828800"/>
            <a:ext cx="35204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1828800"/>
            <a:ext cx="3520440" cy="502920"/>
          </a:xfrm>
          <a:prstGeom prst="rect">
            <a:avLst/>
          </a:prstGeom>
          <a:solidFill>
            <a:srgbClr val="12403B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828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15500" y="2606040"/>
            <a:ext cx="731520" cy="7315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549640" y="35661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0" y="42976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dashboard findings into strategic insights and action plans for senior leadership.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cleaned operational dataset powers two purpose-built dashboards.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Table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95728"/>
            <a:ext cx="146304" cy="146304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Supplier, Region, Shipping Mode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52928"/>
            <a:ext cx="146304" cy="146304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788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&amp; Product Name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310128"/>
            <a:ext cx="146304" cy="146304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 &amp; Quantity Ordered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767328"/>
            <a:ext cx="146304" cy="146304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703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/ Late Delivery flags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224528"/>
            <a:ext cx="146304" cy="146304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160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Time &amp; Damaged Goods Rate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681728"/>
            <a:ext cx="146304" cy="146304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Cost, Profit ($)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5138928"/>
            <a:ext cx="146304" cy="146304"/>
          </a:xfrm>
          <a:prstGeom prst="ellipse">
            <a:avLst/>
          </a:prstGeom>
          <a:solidFill>
            <a:srgbClr val="12403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074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Month / Year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1645920"/>
            <a:ext cx="5120640" cy="1965960"/>
          </a:xfrm>
          <a:prstGeom prst="rect">
            <a:avLst/>
          </a:prstGeom>
          <a:solidFill>
            <a:srgbClr val="12403B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Operations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6364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• Late Delivery Rate • Shipping Time • Damaged Goods • Supplier &amp; Inventory performance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3886200"/>
            <a:ext cx="5120640" cy="1965960"/>
          </a:xfrm>
          <a:prstGeom prst="rect">
            <a:avLst/>
          </a:prstGeom>
          <a:solidFill>
            <a:srgbClr val="0A2622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263640" y="4709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• Profit • Margin • Average Order Value • Regional &amp; Product profitability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throughout this deck reflect the current dashboard view/filters at time of review.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27832" y="1005840"/>
            <a:ext cx="2560320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7" name="Text 5"/>
          <p:cNvSpPr/>
          <p:nvPr/>
        </p:nvSpPr>
        <p:spPr>
          <a:xfrm>
            <a:off x="3227832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19272" y="1572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07024" y="1005840"/>
            <a:ext cx="2560320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0" name="Text 8"/>
          <p:cNvSpPr/>
          <p:nvPr/>
        </p:nvSpPr>
        <p:spPr>
          <a:xfrm>
            <a:off x="5907024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days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98464" y="1572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Shipping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86216" y="1005840"/>
            <a:ext cx="2560320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8586216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2.11%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77656" y="1572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Damaged Goods Rate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by Supplier (%)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857689033"/>
              </p:ext>
            </p:extLst>
          </p:nvPr>
        </p:nvGraphicFramePr>
        <p:xfrm>
          <a:off x="457200" y="251460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355080" y="2194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On-Time Deliveries (trend)</a:t>
            </a:r>
            <a:endParaRPr lang="en-US" sz="13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6263640" y="2514600"/>
          <a:ext cx="53949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6263640" y="4434840"/>
            <a:ext cx="5394960" cy="169164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20" name="Text 16"/>
          <p:cNvSpPr/>
          <p:nvPr/>
        </p:nvSpPr>
        <p:spPr>
          <a:xfrm>
            <a:off x="6492240" y="45720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Eastconnect Logistics performs meaningfully better than peers (65% late vs 86–90% elsewhere) still far from acceptable. On-time deliveries have declined steadily from January to July, and damaged-goods rates add a further quality gap on top of the delay problem.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Analysis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84832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$23.58M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52344" y="1005840"/>
            <a:ext cx="2084832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7" name="Text 5"/>
          <p:cNvSpPr/>
          <p:nvPr/>
        </p:nvSpPr>
        <p:spPr>
          <a:xfrm>
            <a:off x="2752344" y="10789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$6.35M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98064" y="15727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56048" y="1005840"/>
            <a:ext cx="2084832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10789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$17.23M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01768" y="15727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59752" y="1005840"/>
            <a:ext cx="2084832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7159752" y="10789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26.92%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05472" y="15727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363456" y="1005840"/>
            <a:ext cx="2084832" cy="96012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16" name="Text 14"/>
          <p:cNvSpPr/>
          <p:nvPr/>
        </p:nvSpPr>
        <p:spPr>
          <a:xfrm>
            <a:off x="9363456" y="107899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$413.72K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409176" y="15727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Shipping Mode ($M)</a:t>
            </a:r>
            <a:endParaRPr lang="en-US" sz="13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406900857"/>
              </p:ext>
            </p:extLst>
          </p:nvPr>
        </p:nvGraphicFramePr>
        <p:xfrm>
          <a:off x="457200" y="251460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298146" y="2376577"/>
            <a:ext cx="5394960" cy="388620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92240" y="2944368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0" y="28803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26.92% margin is healthy, but $17.23M in costs against $23.58M revenue leaves limited room for further cost creep.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92240" y="3813048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37490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shipping drives the most revenue — worth checking whether it's also the mode most linked to delays.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92240" y="4681728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0" y="46177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order value above $400K points to large, B2B-style transactions rather than small retail baskets.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92240" y="5550408"/>
            <a:ext cx="146304" cy="14630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9" name="Text 26"/>
          <p:cNvSpPr/>
          <p:nvPr/>
        </p:nvSpPr>
        <p:spPr>
          <a:xfrm>
            <a:off x="6766560" y="54864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Inputs is the leading revenue category in the region reviewed, indicating concentration risk.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Optimization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are not aligned with actual customer demand.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 vs Quantity Ordered ('000 units)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66154332"/>
              </p:ext>
            </p:extLst>
          </p:nvPr>
        </p:nvGraphicFramePr>
        <p:xfrm>
          <a:off x="390777" y="2027208"/>
          <a:ext cx="5577840" cy="4293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45382" y="2194560"/>
            <a:ext cx="5313218" cy="3840480"/>
          </a:xfrm>
          <a:prstGeom prst="rect">
            <a:avLst/>
          </a:prstGeom>
          <a:solidFill>
            <a:srgbClr val="12403B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1828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stock sits at roughly 42,900 units against only 3,920 units actually ordered  tying up capital that could fund faster-moving categories.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37960" y="3520440"/>
            <a:ext cx="4572000" cy="0"/>
          </a:xfrm>
          <a:prstGeom prst="line">
            <a:avLst/>
          </a:prstGeom>
          <a:noFill/>
          <a:ln w="12700">
            <a:solidFill>
              <a:srgbClr val="2A59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business: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3796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holding &amp; warehousing costs on slow-moving stock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37960" y="44622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 capital locked up instead of funding growth categories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37960" y="49011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of markdowns or write-offs on excess inventory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537960" y="53400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 categories may be simultaneously understocked, costing lost sales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4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Trends &amp;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($M, approx.)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55778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Products by Revenue ($M, approx.)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144396039"/>
              </p:ext>
            </p:extLst>
          </p:nvPr>
        </p:nvGraphicFramePr>
        <p:xfrm>
          <a:off x="6263640" y="13258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114800"/>
            <a:ext cx="5577840" cy="1965960"/>
          </a:xfrm>
          <a:prstGeom prst="rect">
            <a:avLst/>
          </a:prstGeom>
          <a:solidFill>
            <a:srgbClr val="F2F6F5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425196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volatile through the year with a mid-year dip and a sharp year-end surge  while on-time delivery performance was falling over roughly the same window. The business is scaling demand faster than it is scaling delivery reliability.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15544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184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supplier reliability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review and, where needed, replace the suppliers with &gt;85% late delivery rates; add SLAs with penalties.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257800" cy="15544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7830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6184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On-Time Delivery target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20% toward a 90%+ OTD goal, tracked monthly at the executive level.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257800" cy="15544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4015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shipping mix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whether Economy shipping's revenue lead comes at the cost of reliability, and adjust routing.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200400"/>
            <a:ext cx="5257800" cy="15544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356616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34015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demand-driven inventory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9776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blanket stocking with demand-based replenishment to fix overstock/understock imbalances.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5257800" cy="15544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3492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51846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revenue concentration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57607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a single leading category/region by growing other product lines and markets.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983480"/>
            <a:ext cx="5257800" cy="15544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53492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51846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dashboard adoption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37960" y="57607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these Power BI dashboards to regional and operations managers for real-time visibility.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12403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rgbClr val="CFE8E2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GlobalMart's growth story is real  $23.58M in revenue at a healthy 26.92% margin  but it is at risk. An 80% late delivery rate and a 11X inventory oversupply in Clothing are eroding the customer experience and tying up capital that could fund growth.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0698480" cy="0"/>
          </a:xfrm>
          <a:prstGeom prst="line">
            <a:avLst/>
          </a:prstGeom>
          <a:noFill/>
          <a:ln w="12700">
            <a:solidFill>
              <a:srgbClr val="1D4C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priorities (next 90 days)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3319272" cy="20116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E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703320"/>
            <a:ext cx="2953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supplier performance reviews; issue improvement notices to underperforming carriers.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33672" y="3108960"/>
            <a:ext cx="3319272" cy="20116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329184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E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3–6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62272" y="3703320"/>
            <a:ext cx="2953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demand-driven replenishment for the Clothing category; set OTD target and tracking cadence.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35824" y="3108960"/>
            <a:ext cx="3319272" cy="2011680"/>
          </a:xfrm>
          <a:prstGeom prst="rect">
            <a:avLst/>
          </a:prstGeom>
          <a:solidFill>
            <a:srgbClr val="0E2D29"/>
          </a:solidFill>
          <a:ln/>
        </p:spPr>
      </p:sp>
      <p:sp>
        <p:nvSpPr>
          <p:cNvPr id="15" name="Text 13"/>
          <p:cNvSpPr/>
          <p:nvPr/>
        </p:nvSpPr>
        <p:spPr>
          <a:xfrm>
            <a:off x="7964424" y="329184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E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7–12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64424" y="3703320"/>
            <a:ext cx="2953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both dashboards to regional managers; hold first 90-day executive performance review.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FC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961</Words>
  <Application>Microsoft Office PowerPoint</Application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abdulbasit yusuf</cp:lastModifiedBy>
  <cp:revision>2</cp:revision>
  <dcterms:created xsi:type="dcterms:W3CDTF">2026-07-21T19:30:40Z</dcterms:created>
  <dcterms:modified xsi:type="dcterms:W3CDTF">2026-07-21T20:05:42Z</dcterms:modified>
</cp:coreProperties>
</file>